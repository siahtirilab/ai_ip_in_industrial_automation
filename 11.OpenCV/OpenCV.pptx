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97" r:id="rId1"/>
  </p:sldMasterIdLst>
  <p:notesMasterIdLst>
    <p:notesMasterId r:id="rId6"/>
  </p:notesMasterIdLst>
  <p:sldIdLst>
    <p:sldId id="303" r:id="rId2"/>
    <p:sldId id="304" r:id="rId3"/>
    <p:sldId id="305" r:id="rId4"/>
    <p:sldId id="306" r:id="rId5"/>
  </p:sldIdLst>
  <p:sldSz cx="12192000" cy="6858000"/>
  <p:notesSz cx="6858000" cy="9144000"/>
  <p:embeddedFontLst>
    <p:embeddedFont>
      <p:font typeface="B Bardiya" panose="020B0604020202020204" charset="-78"/>
      <p:regular r:id="rId7"/>
      <p:bold r:id="rId8"/>
    </p:embeddedFont>
    <p:embeddedFont>
      <p:font typeface="Config Rounded Medium" panose="00000600000000000000" pitchFamily="2" charset="0"/>
      <p:regular r:id="rId9"/>
    </p:embeddedFont>
    <p:embeddedFont>
      <p:font typeface="IRANSans(FaNum) Medium" panose="02040503050201020203" pitchFamily="18" charset="-78"/>
      <p:regular r:id="rId10"/>
    </p:embeddedFont>
    <p:embeddedFont>
      <p:font typeface="Roboto" panose="02000000000000000000" pitchFamily="2" charset="0"/>
      <p:regular r:id="rId11"/>
      <p:bold r:id="rId12"/>
      <p:italic r:id="rId13"/>
      <p:boldItalic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2348B"/>
    <a:srgbClr val="5500C3"/>
    <a:srgbClr val="5BB695"/>
    <a:srgbClr val="CD9C71"/>
    <a:srgbClr val="F2F2F2"/>
    <a:srgbClr val="416AC7"/>
    <a:srgbClr val="144381"/>
    <a:srgbClr val="28AFEA"/>
    <a:srgbClr val="FA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495" autoAdjust="0"/>
    <p:restoredTop sz="94667" autoAdjust="0"/>
  </p:normalViewPr>
  <p:slideViewPr>
    <p:cSldViewPr snapToGrid="0">
      <p:cViewPr varScale="1">
        <p:scale>
          <a:sx n="66" d="100"/>
          <a:sy n="66" d="100"/>
        </p:scale>
        <p:origin x="198" y="6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75244F-05A1-41F6-82C1-014A7271FB84}" type="datetimeFigureOut">
              <a:rPr lang="en-US" smtClean="0"/>
              <a:t>4/6/2026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DF7ECD-E608-44D8-A359-20A1B15D67A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86777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g8729d97241_0_8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5" name="Google Shape;865;g8729d97241_0_8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3">
          <a:extLst>
            <a:ext uri="{FF2B5EF4-FFF2-40B4-BE49-F238E27FC236}">
              <a16:creationId xmlns:a16="http://schemas.microsoft.com/office/drawing/2014/main" id="{FCE89917-A46A-CDEE-A10C-4B137A889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g8729d97241_0_806:notes">
            <a:extLst>
              <a:ext uri="{FF2B5EF4-FFF2-40B4-BE49-F238E27FC236}">
                <a16:creationId xmlns:a16="http://schemas.microsoft.com/office/drawing/2014/main" id="{CE168A38-B851-57AC-CAE7-68F81DA1283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5" name="Google Shape;865;g8729d97241_0_806:notes">
            <a:extLst>
              <a:ext uri="{FF2B5EF4-FFF2-40B4-BE49-F238E27FC236}">
                <a16:creationId xmlns:a16="http://schemas.microsoft.com/office/drawing/2014/main" id="{945F669C-A8BF-56C3-DE86-897D017DD1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639604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3">
          <a:extLst>
            <a:ext uri="{FF2B5EF4-FFF2-40B4-BE49-F238E27FC236}">
              <a16:creationId xmlns:a16="http://schemas.microsoft.com/office/drawing/2014/main" id="{E7563394-4B61-A33E-6E55-1184A2ADD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g8729d97241_0_806:notes">
            <a:extLst>
              <a:ext uri="{FF2B5EF4-FFF2-40B4-BE49-F238E27FC236}">
                <a16:creationId xmlns:a16="http://schemas.microsoft.com/office/drawing/2014/main" id="{0B3E70A0-ED3E-B8B9-9A50-3FFBD832412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5" name="Google Shape;865;g8729d97241_0_806:notes">
            <a:extLst>
              <a:ext uri="{FF2B5EF4-FFF2-40B4-BE49-F238E27FC236}">
                <a16:creationId xmlns:a16="http://schemas.microsoft.com/office/drawing/2014/main" id="{8B5C7D91-4A57-BA04-E9D0-BD2F9C2764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753235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3">
          <a:extLst>
            <a:ext uri="{FF2B5EF4-FFF2-40B4-BE49-F238E27FC236}">
              <a16:creationId xmlns:a16="http://schemas.microsoft.com/office/drawing/2014/main" id="{CE903C56-C07F-F179-5440-32968DA10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g8729d97241_0_806:notes">
            <a:extLst>
              <a:ext uri="{FF2B5EF4-FFF2-40B4-BE49-F238E27FC236}">
                <a16:creationId xmlns:a16="http://schemas.microsoft.com/office/drawing/2014/main" id="{EAC90DFF-822B-6A00-E545-66EED4358BA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5" name="Google Shape;865;g8729d97241_0_806:notes">
            <a:extLst>
              <a:ext uri="{FF2B5EF4-FFF2-40B4-BE49-F238E27FC236}">
                <a16:creationId xmlns:a16="http://schemas.microsoft.com/office/drawing/2014/main" id="{958E59B2-68AF-D4FF-F4C8-21E2757B2C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792878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915200" y="2042533"/>
            <a:ext cx="4468800" cy="217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915200" y="4262267"/>
            <a:ext cx="4468800" cy="55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91769898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370874437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>
            <a:spLocks noGrp="1"/>
          </p:cNvSpPr>
          <p:nvPr>
            <p:ph type="title"/>
          </p:nvPr>
        </p:nvSpPr>
        <p:spPr>
          <a:xfrm>
            <a:off x="947033" y="715533"/>
            <a:ext cx="10298000" cy="64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4"/>
          <p:cNvSpPr txBox="1">
            <a:spLocks noGrp="1"/>
          </p:cNvSpPr>
          <p:nvPr>
            <p:ph type="body" idx="1"/>
          </p:nvPr>
        </p:nvSpPr>
        <p:spPr>
          <a:xfrm>
            <a:off x="947033" y="1536633"/>
            <a:ext cx="10298000" cy="460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942041950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947033" y="715533"/>
            <a:ext cx="10298000" cy="64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197199765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947033" y="715533"/>
            <a:ext cx="10298000" cy="64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50655778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27" name="Google Shape;27;p7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1219170" lvl="1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834531194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400" cy="545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855995312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  <p:sp>
        <p:nvSpPr>
          <p:cNvPr id="34" name="Google Shape;34;p9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596381783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400" cy="80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30479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54154897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800" cy="261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43" name="Google Shape;43;p11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800" cy="17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algn="ctr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ctr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ctr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ctr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ctr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ctr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ctr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ctr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539926803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956832614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47033" y="715533"/>
            <a:ext cx="10298000" cy="6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47033" y="1536633"/>
            <a:ext cx="10298000" cy="460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97666193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</p:sldLayoutIdLst>
  <p:transition spd="slow">
    <p:push dir="u"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A9BAFF9-C0F0-C778-E611-E092D60257A8}"/>
              </a:ext>
            </a:extLst>
          </p:cNvPr>
          <p:cNvSpPr txBox="1"/>
          <p:nvPr/>
        </p:nvSpPr>
        <p:spPr>
          <a:xfrm>
            <a:off x="4569785" y="417251"/>
            <a:ext cx="30524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rtl="1"/>
            <a:r>
              <a:rPr lang="en-US" sz="3600" b="1" dirty="0">
                <a:cs typeface="B Bardiya" panose="00000400000000000000" pitchFamily="2" charset="-78"/>
              </a:rPr>
              <a:t>OpenCV</a:t>
            </a:r>
            <a:r>
              <a:rPr lang="fa-IR" sz="3600" b="1" dirty="0">
                <a:cs typeface="B Bardiya" panose="00000400000000000000" pitchFamily="2" charset="-78"/>
              </a:rPr>
              <a:t> چیست</a:t>
            </a:r>
            <a:endParaRPr lang="en-US" sz="3600" b="1" dirty="0">
              <a:cs typeface="B Bardiya" panose="00000400000000000000" pitchFamily="2" charset="-78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9AD46DE-30C1-F9E9-3F05-BBEB538ECAA1}"/>
              </a:ext>
            </a:extLst>
          </p:cNvPr>
          <p:cNvGrpSpPr/>
          <p:nvPr/>
        </p:nvGrpSpPr>
        <p:grpSpPr>
          <a:xfrm>
            <a:off x="1" y="686416"/>
            <a:ext cx="12191999" cy="108000"/>
            <a:chOff x="1" y="686416"/>
            <a:chExt cx="12191999" cy="108000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8C80D44B-DA11-AD4D-4D1E-FBBF4D7DEE48}"/>
                </a:ext>
              </a:extLst>
            </p:cNvPr>
            <p:cNvGrpSpPr/>
            <p:nvPr userDrawn="1"/>
          </p:nvGrpSpPr>
          <p:grpSpPr>
            <a:xfrm>
              <a:off x="7953658" y="686416"/>
              <a:ext cx="4238342" cy="108000"/>
              <a:chOff x="7953658" y="686416"/>
              <a:chExt cx="4238342" cy="108000"/>
            </a:xfrm>
          </p:grpSpPr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A979548A-CE35-CD9E-4988-EAF58F7E891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007658" y="740416"/>
                <a:ext cx="4184342" cy="0"/>
              </a:xfrm>
              <a:prstGeom prst="line">
                <a:avLst/>
              </a:prstGeom>
              <a:noFill/>
              <a:ln w="19050" cap="flat" cmpd="sng" algn="ctr">
                <a:solidFill>
                  <a:srgbClr val="B791FF">
                    <a:shade val="95000"/>
                    <a:satMod val="105000"/>
                  </a:srgbClr>
                </a:solidFill>
                <a:prstDash val="solid"/>
              </a:ln>
              <a:effectLst/>
            </p:spPr>
          </p:cxn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F0523A7A-D98D-E5E9-3CC3-B31AE840DDFA}"/>
                  </a:ext>
                </a:extLst>
              </p:cNvPr>
              <p:cNvSpPr/>
              <p:nvPr/>
            </p:nvSpPr>
            <p:spPr>
              <a:xfrm>
                <a:off x="7953658" y="686416"/>
                <a:ext cx="108000" cy="108000"/>
              </a:xfrm>
              <a:prstGeom prst="ellipse">
                <a:avLst/>
              </a:prstGeom>
              <a:solidFill>
                <a:srgbClr val="B791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EFEFE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6094F21C-7AA2-348C-9CC0-412347F22964}"/>
                </a:ext>
              </a:extLst>
            </p:cNvPr>
            <p:cNvGrpSpPr/>
            <p:nvPr userDrawn="1"/>
          </p:nvGrpSpPr>
          <p:grpSpPr>
            <a:xfrm rot="10800000">
              <a:off x="1" y="686416"/>
              <a:ext cx="4238342" cy="108000"/>
              <a:chOff x="7953658" y="686416"/>
              <a:chExt cx="4238342" cy="108000"/>
            </a:xfrm>
          </p:grpSpPr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196A533C-27D8-4BD7-7F78-FA3F477ACC8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007658" y="740416"/>
                <a:ext cx="4184342" cy="0"/>
              </a:xfrm>
              <a:prstGeom prst="line">
                <a:avLst/>
              </a:prstGeom>
              <a:noFill/>
              <a:ln w="19050" cap="flat" cmpd="sng" algn="ctr">
                <a:solidFill>
                  <a:srgbClr val="B791FF">
                    <a:shade val="95000"/>
                    <a:satMod val="105000"/>
                  </a:srgbClr>
                </a:solidFill>
                <a:prstDash val="solid"/>
              </a:ln>
              <a:effectLst/>
            </p:spPr>
          </p:cxn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EB0AE3F2-7BA9-8F84-BC1C-6130C1487D29}"/>
                  </a:ext>
                </a:extLst>
              </p:cNvPr>
              <p:cNvSpPr/>
              <p:nvPr/>
            </p:nvSpPr>
            <p:spPr>
              <a:xfrm>
                <a:off x="7953658" y="686416"/>
                <a:ext cx="108000" cy="108000"/>
              </a:xfrm>
              <a:prstGeom prst="ellipse">
                <a:avLst/>
              </a:prstGeom>
              <a:solidFill>
                <a:srgbClr val="B791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EFEFE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E5A02E30-4834-2946-5865-48B3B37A8E07}"/>
              </a:ext>
            </a:extLst>
          </p:cNvPr>
          <p:cNvSpPr txBox="1"/>
          <p:nvPr/>
        </p:nvSpPr>
        <p:spPr>
          <a:xfrm>
            <a:off x="2834640" y="1117581"/>
            <a:ext cx="9021541" cy="221599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lnSpc>
                <a:spcPct val="200000"/>
              </a:lnSpc>
            </a:pPr>
            <a:r>
              <a:rPr lang="fa-IR" sz="2400" dirty="0">
                <a:latin typeface="IRANSans(FaNum) Medium" panose="02040503050201020203" pitchFamily="18" charset="-78"/>
                <a:cs typeface="IRANSans(FaNum) Medium" panose="02040503050201020203" pitchFamily="18" charset="-78"/>
              </a:rPr>
              <a:t>یک کتابخانه متن باز برای بینایی ماشین (</a:t>
            </a:r>
            <a:r>
              <a:rPr lang="en-US" sz="2400" dirty="0">
                <a:latin typeface="IRANSans(FaNum) Medium" panose="02040503050201020203" pitchFamily="18" charset="-78"/>
                <a:cs typeface="IRANSans(FaNum) Medium" panose="02040503050201020203" pitchFamily="18" charset="-78"/>
              </a:rPr>
              <a:t>computer vision</a:t>
            </a:r>
            <a:r>
              <a:rPr lang="fa-IR" sz="2400" dirty="0">
                <a:latin typeface="IRANSans(FaNum) Medium" panose="02040503050201020203" pitchFamily="18" charset="-78"/>
                <a:cs typeface="IRANSans(FaNum) Medium" panose="02040503050201020203" pitchFamily="18" charset="-78"/>
              </a:rPr>
              <a:t>) است</a:t>
            </a:r>
            <a:endParaRPr lang="en-US" sz="2400" dirty="0">
              <a:latin typeface="IRANSans(FaNum) Medium" panose="02040503050201020203" pitchFamily="18" charset="-78"/>
              <a:cs typeface="IRANSans(FaNum) Medium" panose="02040503050201020203" pitchFamily="18" charset="-78"/>
            </a:endParaRPr>
          </a:p>
          <a:p>
            <a:pPr algn="r" rtl="1">
              <a:lnSpc>
                <a:spcPct val="200000"/>
              </a:lnSpc>
            </a:pPr>
            <a:r>
              <a:rPr lang="fa-IR" sz="2400" dirty="0">
                <a:latin typeface="IRANSans(FaNum) Medium" panose="02040503050201020203" pitchFamily="18" charset="-78"/>
                <a:cs typeface="IRANSans(FaNum) Medium" panose="02040503050201020203" pitchFamily="18" charset="-78"/>
              </a:rPr>
              <a:t>قابل استفاده و تعریف در پایتون</a:t>
            </a:r>
          </a:p>
          <a:p>
            <a:pPr algn="r" rtl="1">
              <a:lnSpc>
                <a:spcPct val="200000"/>
              </a:lnSpc>
            </a:pPr>
            <a:r>
              <a:rPr lang="fa-IR" sz="2400" dirty="0">
                <a:latin typeface="IRANSans(FaNum) Medium" panose="02040503050201020203" pitchFamily="18" charset="-78"/>
                <a:cs typeface="IRANSans(FaNum) Medium" panose="02040503050201020203" pitchFamily="18" charset="-78"/>
              </a:rPr>
              <a:t>مناسب پردازش تصویر و ویدیو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8E0C188-A6DE-7562-123E-3E03BB2D378F}"/>
              </a:ext>
            </a:extLst>
          </p:cNvPr>
          <p:cNvSpPr txBox="1"/>
          <p:nvPr/>
        </p:nvSpPr>
        <p:spPr>
          <a:xfrm>
            <a:off x="338328" y="3524429"/>
            <a:ext cx="11517853" cy="73866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1">
            <a:spAutoFit/>
          </a:bodyPr>
          <a:lstStyle/>
          <a:p>
            <a:pPr algn="r" rtl="1">
              <a:lnSpc>
                <a:spcPct val="200000"/>
              </a:lnSpc>
            </a:pPr>
            <a:r>
              <a:rPr lang="fa-IR" sz="2400" dirty="0">
                <a:latin typeface="IRANSans(FaNum) Medium" panose="02040503050201020203" pitchFamily="18" charset="-78"/>
                <a:cs typeface="IRANSans(FaNum) Medium" panose="02040503050201020203" pitchFamily="18" charset="-78"/>
              </a:rPr>
              <a:t>ویژگی‌های کلیدی آن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135489F-1F93-1EC2-F3E0-F48DE2299147}"/>
              </a:ext>
            </a:extLst>
          </p:cNvPr>
          <p:cNvSpPr txBox="1"/>
          <p:nvPr/>
        </p:nvSpPr>
        <p:spPr>
          <a:xfrm>
            <a:off x="2832131" y="4224758"/>
            <a:ext cx="9021541" cy="221599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lnSpc>
                <a:spcPct val="200000"/>
              </a:lnSpc>
            </a:pPr>
            <a:r>
              <a:rPr lang="fa-IR" sz="2400" dirty="0">
                <a:latin typeface="IRANSans(FaNum) Medium" panose="02040503050201020203" pitchFamily="18" charset="-78"/>
                <a:cs typeface="IRANSans(FaNum) Medium" panose="02040503050201020203" pitchFamily="18" charset="-78"/>
              </a:rPr>
              <a:t>پردازش تصویر و ویدیو در لحظه – </a:t>
            </a:r>
            <a:r>
              <a:rPr lang="en-US" sz="2400" dirty="0">
                <a:latin typeface="IRANSans(FaNum) Medium" panose="02040503050201020203" pitchFamily="18" charset="-78"/>
                <a:cs typeface="IRANSans(FaNum) Medium" panose="02040503050201020203" pitchFamily="18" charset="-78"/>
              </a:rPr>
              <a:t>Real time</a:t>
            </a:r>
            <a:endParaRPr lang="fa-IR" sz="2400" dirty="0">
              <a:latin typeface="IRANSans(FaNum) Medium" panose="02040503050201020203" pitchFamily="18" charset="-78"/>
              <a:cs typeface="IRANSans(FaNum) Medium" panose="02040503050201020203" pitchFamily="18" charset="-78"/>
            </a:endParaRPr>
          </a:p>
          <a:p>
            <a:pPr algn="r" rtl="1">
              <a:lnSpc>
                <a:spcPct val="200000"/>
              </a:lnSpc>
            </a:pPr>
            <a:r>
              <a:rPr lang="fa-IR" sz="2400" dirty="0">
                <a:latin typeface="IRANSans(FaNum) Medium" panose="02040503050201020203" pitchFamily="18" charset="-78"/>
                <a:cs typeface="IRANSans(FaNum) Medium" panose="02040503050201020203" pitchFamily="18" charset="-78"/>
              </a:rPr>
              <a:t>ابزارهای ویرایش تصویر</a:t>
            </a:r>
          </a:p>
          <a:p>
            <a:pPr algn="r" rtl="1">
              <a:lnSpc>
                <a:spcPct val="200000"/>
              </a:lnSpc>
            </a:pPr>
            <a:r>
              <a:rPr lang="fa-IR" sz="2400" dirty="0">
                <a:latin typeface="IRANSans(FaNum) Medium" panose="02040503050201020203" pitchFamily="18" charset="-78"/>
                <a:cs typeface="IRANSans(FaNum) Medium" panose="02040503050201020203" pitchFamily="18" charset="-78"/>
              </a:rPr>
              <a:t>امکان استفاده در کنار سایر فریم‌ورک‌ها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4E50CB92-440A-6845-F448-8029D93708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569" y="1232176"/>
            <a:ext cx="1500603" cy="1986799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6">
          <a:extLst>
            <a:ext uri="{FF2B5EF4-FFF2-40B4-BE49-F238E27FC236}">
              <a16:creationId xmlns:a16="http://schemas.microsoft.com/office/drawing/2014/main" id="{1AB66A19-FA57-57FE-3862-6E1BC12D4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CDF9DB3-B82B-38EF-DC25-3E3155DCE4E2}"/>
              </a:ext>
            </a:extLst>
          </p:cNvPr>
          <p:cNvSpPr txBox="1"/>
          <p:nvPr/>
        </p:nvSpPr>
        <p:spPr>
          <a:xfrm>
            <a:off x="5093166" y="417251"/>
            <a:ext cx="20056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rtl="1"/>
            <a:r>
              <a:rPr lang="en-US" sz="3600" b="1" dirty="0">
                <a:cs typeface="B Bardiya" panose="00000400000000000000" pitchFamily="2" charset="-78"/>
              </a:rPr>
              <a:t>OpenCV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2EAF6D3-5B02-78D5-6B34-0DAE2963EBF7}"/>
              </a:ext>
            </a:extLst>
          </p:cNvPr>
          <p:cNvGrpSpPr/>
          <p:nvPr/>
        </p:nvGrpSpPr>
        <p:grpSpPr>
          <a:xfrm>
            <a:off x="1" y="686416"/>
            <a:ext cx="12191999" cy="108000"/>
            <a:chOff x="1" y="686416"/>
            <a:chExt cx="12191999" cy="108000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D2DCFE3B-D082-F258-CFB1-ADAE0E60A58E}"/>
                </a:ext>
              </a:extLst>
            </p:cNvPr>
            <p:cNvGrpSpPr/>
            <p:nvPr userDrawn="1"/>
          </p:nvGrpSpPr>
          <p:grpSpPr>
            <a:xfrm>
              <a:off x="7953658" y="686416"/>
              <a:ext cx="4238342" cy="108000"/>
              <a:chOff x="7953658" y="686416"/>
              <a:chExt cx="4238342" cy="108000"/>
            </a:xfrm>
          </p:grpSpPr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D2F808AB-8B57-1A0D-2123-C05471FA1A1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007658" y="740416"/>
                <a:ext cx="4184342" cy="0"/>
              </a:xfrm>
              <a:prstGeom prst="line">
                <a:avLst/>
              </a:prstGeom>
              <a:noFill/>
              <a:ln w="19050" cap="flat" cmpd="sng" algn="ctr">
                <a:solidFill>
                  <a:srgbClr val="B791FF">
                    <a:shade val="95000"/>
                    <a:satMod val="105000"/>
                  </a:srgbClr>
                </a:solidFill>
                <a:prstDash val="solid"/>
              </a:ln>
              <a:effectLst/>
            </p:spPr>
          </p:cxn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C7DE71AF-BEAB-CFCA-C2B5-7FD3BC9CCC49}"/>
                  </a:ext>
                </a:extLst>
              </p:cNvPr>
              <p:cNvSpPr/>
              <p:nvPr/>
            </p:nvSpPr>
            <p:spPr>
              <a:xfrm>
                <a:off x="7953658" y="686416"/>
                <a:ext cx="108000" cy="108000"/>
              </a:xfrm>
              <a:prstGeom prst="ellipse">
                <a:avLst/>
              </a:prstGeom>
              <a:solidFill>
                <a:srgbClr val="B791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EFEFE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F444A5BF-2F7A-15F8-D3A1-BE7EA4B8222C}"/>
                </a:ext>
              </a:extLst>
            </p:cNvPr>
            <p:cNvGrpSpPr/>
            <p:nvPr userDrawn="1"/>
          </p:nvGrpSpPr>
          <p:grpSpPr>
            <a:xfrm rot="10800000">
              <a:off x="1" y="686416"/>
              <a:ext cx="4238342" cy="108000"/>
              <a:chOff x="7953658" y="686416"/>
              <a:chExt cx="4238342" cy="108000"/>
            </a:xfrm>
          </p:grpSpPr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CB0A4AE9-3FD2-FE86-640C-A4B23BA79BF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007658" y="740416"/>
                <a:ext cx="4184342" cy="0"/>
              </a:xfrm>
              <a:prstGeom prst="line">
                <a:avLst/>
              </a:prstGeom>
              <a:noFill/>
              <a:ln w="19050" cap="flat" cmpd="sng" algn="ctr">
                <a:solidFill>
                  <a:srgbClr val="B791FF">
                    <a:shade val="95000"/>
                    <a:satMod val="105000"/>
                  </a:srgbClr>
                </a:solidFill>
                <a:prstDash val="solid"/>
              </a:ln>
              <a:effectLst/>
            </p:spPr>
          </p:cxn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843CC1D7-247E-CD9D-43B5-AE01E64CA838}"/>
                  </a:ext>
                </a:extLst>
              </p:cNvPr>
              <p:cNvSpPr/>
              <p:nvPr/>
            </p:nvSpPr>
            <p:spPr>
              <a:xfrm>
                <a:off x="7953658" y="686416"/>
                <a:ext cx="108000" cy="108000"/>
              </a:xfrm>
              <a:prstGeom prst="ellipse">
                <a:avLst/>
              </a:prstGeom>
              <a:solidFill>
                <a:srgbClr val="B791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EFEFE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87C78086-FAD5-9675-3499-B6B018105A95}"/>
              </a:ext>
            </a:extLst>
          </p:cNvPr>
          <p:cNvSpPr txBox="1"/>
          <p:nvPr/>
        </p:nvSpPr>
        <p:spPr>
          <a:xfrm>
            <a:off x="1585229" y="1063582"/>
            <a:ext cx="9021541" cy="73866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lnSpc>
                <a:spcPct val="200000"/>
              </a:lnSpc>
            </a:pPr>
            <a:r>
              <a:rPr lang="en-US" sz="2400" dirty="0">
                <a:latin typeface="IRANSans(FaNum) Medium" panose="02040503050201020203" pitchFamily="18" charset="-78"/>
                <a:cs typeface="IRANSans(FaNum) Medium" panose="02040503050201020203" pitchFamily="18" charset="-78"/>
              </a:rPr>
              <a:t>OpenCV is the world's biggest computer vision library.</a:t>
            </a:r>
            <a:endParaRPr lang="fa-IR" sz="2400" dirty="0">
              <a:latin typeface="IRANSans(FaNum) Medium" panose="02040503050201020203" pitchFamily="18" charset="-78"/>
              <a:cs typeface="IRANSans(FaNum) Medium" panose="02040503050201020203" pitchFamily="18" charset="-78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BFC038D-D425-E47A-AA54-85F0A2E3A015}"/>
              </a:ext>
            </a:extLst>
          </p:cNvPr>
          <p:cNvSpPr txBox="1"/>
          <p:nvPr/>
        </p:nvSpPr>
        <p:spPr>
          <a:xfrm>
            <a:off x="335819" y="2551906"/>
            <a:ext cx="11517853" cy="73866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1">
            <a:spAutoFit/>
          </a:bodyPr>
          <a:lstStyle/>
          <a:p>
            <a:pPr rtl="1">
              <a:lnSpc>
                <a:spcPct val="200000"/>
              </a:lnSpc>
            </a:pPr>
            <a:r>
              <a:rPr lang="en-US" sz="2400" dirty="0">
                <a:latin typeface="IRANSans(FaNum) Medium" panose="02040503050201020203" pitchFamily="18" charset="-78"/>
                <a:cs typeface="IRANSans(FaNum) Medium" panose="02040503050201020203" pitchFamily="18" charset="-78"/>
              </a:rPr>
              <a:t>Why should we learn it?</a:t>
            </a:r>
            <a:endParaRPr lang="fa-IR" sz="2400" dirty="0">
              <a:latin typeface="IRANSans(FaNum) Medium" panose="02040503050201020203" pitchFamily="18" charset="-78"/>
              <a:cs typeface="IRANSans(FaNum) Medium" panose="02040503050201020203" pitchFamily="18" charset="-78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F68EB6C-ABA1-8981-ED5F-A4B56B765D7C}"/>
              </a:ext>
            </a:extLst>
          </p:cNvPr>
          <p:cNvSpPr txBox="1"/>
          <p:nvPr/>
        </p:nvSpPr>
        <p:spPr>
          <a:xfrm>
            <a:off x="5976510" y="3617980"/>
            <a:ext cx="5693559" cy="186204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lnSpc>
                <a:spcPct val="200000"/>
              </a:lnSpc>
            </a:pPr>
            <a:r>
              <a:rPr lang="fa-IR" sz="2000" dirty="0">
                <a:latin typeface="IRANSans(FaNum) Medium" panose="02040503050201020203" pitchFamily="18" charset="-78"/>
                <a:cs typeface="IRANSans(FaNum) Medium" panose="02040503050201020203" pitchFamily="18" charset="-78"/>
              </a:rPr>
              <a:t>شرکت‌های بزرگی مانند </a:t>
            </a:r>
            <a:r>
              <a:rPr lang="en-US" sz="2000" dirty="0">
                <a:latin typeface="IRANSans(FaNum) Medium" panose="02040503050201020203" pitchFamily="18" charset="-78"/>
                <a:cs typeface="IRANSans(FaNum) Medium" panose="02040503050201020203" pitchFamily="18" charset="-78"/>
              </a:rPr>
              <a:t>NASA, Google، Microsoft، Intel، IBM، </a:t>
            </a:r>
            <a:r>
              <a:rPr lang="en-US" sz="2000" dirty="0" err="1">
                <a:latin typeface="IRANSans(FaNum) Medium" panose="02040503050201020203" pitchFamily="18" charset="-78"/>
                <a:cs typeface="IRANSans(FaNum) Medium" panose="02040503050201020203" pitchFamily="18" charset="-78"/>
              </a:rPr>
              <a:t>Sony،Toyota</a:t>
            </a:r>
            <a:r>
              <a:rPr lang="en-US" sz="2000" dirty="0">
                <a:latin typeface="IRANSans(FaNum) Medium" panose="02040503050201020203" pitchFamily="18" charset="-78"/>
                <a:cs typeface="IRANSans(FaNum) Medium" panose="02040503050201020203" pitchFamily="18" charset="-78"/>
              </a:rPr>
              <a:t> </a:t>
            </a:r>
            <a:r>
              <a:rPr lang="fa-IR" sz="2000" dirty="0">
                <a:latin typeface="IRANSans(FaNum) Medium" panose="02040503050201020203" pitchFamily="18" charset="-78"/>
                <a:cs typeface="IRANSans(FaNum) Medium" panose="02040503050201020203" pitchFamily="18" charset="-78"/>
              </a:rPr>
              <a:t> و </a:t>
            </a:r>
            <a:r>
              <a:rPr lang="en-US" sz="2000" dirty="0">
                <a:latin typeface="IRANSans(FaNum) Medium" panose="02040503050201020203" pitchFamily="18" charset="-78"/>
                <a:cs typeface="IRANSans(FaNum) Medium" panose="02040503050201020203" pitchFamily="18" charset="-78"/>
              </a:rPr>
              <a:t>Honda</a:t>
            </a:r>
            <a:r>
              <a:rPr lang="fa-IR" sz="2000" dirty="0">
                <a:latin typeface="IRANSans(FaNum) Medium" panose="02040503050201020203" pitchFamily="18" charset="-78"/>
                <a:cs typeface="IRANSans(FaNum) Medium" panose="02040503050201020203" pitchFamily="18" charset="-78"/>
              </a:rPr>
              <a:t> از آن استفاده می‌کنند.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3E94B9-4A96-8350-741B-0E0A38F01240}"/>
              </a:ext>
            </a:extLst>
          </p:cNvPr>
          <p:cNvSpPr txBox="1"/>
          <p:nvPr/>
        </p:nvSpPr>
        <p:spPr>
          <a:xfrm>
            <a:off x="521928" y="1897743"/>
            <a:ext cx="11148141" cy="46935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lnSpc>
                <a:spcPct val="200000"/>
              </a:lnSpc>
            </a:pPr>
            <a:r>
              <a:rPr lang="en-US" sz="1400" dirty="0">
                <a:latin typeface="Config Rounded Medium" panose="00000600000000000000" pitchFamily="2" charset="0"/>
                <a:cs typeface="IRANSans(FaNum) Medium" panose="02040503050201020203" pitchFamily="18" charset="-78"/>
              </a:rPr>
              <a:t>OpenCV is open source, contains over 2500 algorithms, and is operated by the non-profit Open Source Vision Foundation. Since June 2000.</a:t>
            </a:r>
            <a:endParaRPr lang="fa-IR" sz="1400" dirty="0">
              <a:latin typeface="Config Rounded Medium" panose="00000600000000000000" pitchFamily="2" charset="0"/>
              <a:cs typeface="IRANSans(FaNum) Medium" panose="02040503050201020203" pitchFamily="18" charset="-78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D7300C-1434-2F9E-C256-274A035D94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186" y="3244403"/>
            <a:ext cx="5693559" cy="3302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4708313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6">
          <a:extLst>
            <a:ext uri="{FF2B5EF4-FFF2-40B4-BE49-F238E27FC236}">
              <a16:creationId xmlns:a16="http://schemas.microsoft.com/office/drawing/2014/main" id="{AD9FF6D6-B5B4-0424-0C90-2F5BAF60E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0A1E391-36B5-0ED6-F87F-2D907C78E896}"/>
              </a:ext>
            </a:extLst>
          </p:cNvPr>
          <p:cNvSpPr txBox="1"/>
          <p:nvPr/>
        </p:nvSpPr>
        <p:spPr>
          <a:xfrm>
            <a:off x="5093166" y="417251"/>
            <a:ext cx="20056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rtl="1"/>
            <a:r>
              <a:rPr lang="en-US" sz="3600" b="1" dirty="0">
                <a:cs typeface="B Bardiya" panose="00000400000000000000" pitchFamily="2" charset="-78"/>
              </a:rPr>
              <a:t>OpenCV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89D7C7F-3A55-946F-0609-208918B503CF}"/>
              </a:ext>
            </a:extLst>
          </p:cNvPr>
          <p:cNvGrpSpPr/>
          <p:nvPr/>
        </p:nvGrpSpPr>
        <p:grpSpPr>
          <a:xfrm>
            <a:off x="1" y="686416"/>
            <a:ext cx="12191999" cy="108000"/>
            <a:chOff x="1" y="686416"/>
            <a:chExt cx="12191999" cy="108000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37B6B78C-C08D-BF0B-82A5-2805215C73DE}"/>
                </a:ext>
              </a:extLst>
            </p:cNvPr>
            <p:cNvGrpSpPr/>
            <p:nvPr userDrawn="1"/>
          </p:nvGrpSpPr>
          <p:grpSpPr>
            <a:xfrm>
              <a:off x="7953658" y="686416"/>
              <a:ext cx="4238342" cy="108000"/>
              <a:chOff x="7953658" y="686416"/>
              <a:chExt cx="4238342" cy="108000"/>
            </a:xfrm>
          </p:grpSpPr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B03D80E1-8C6A-EE40-93B4-6143DDAC89B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007658" y="740416"/>
                <a:ext cx="4184342" cy="0"/>
              </a:xfrm>
              <a:prstGeom prst="line">
                <a:avLst/>
              </a:prstGeom>
              <a:noFill/>
              <a:ln w="19050" cap="flat" cmpd="sng" algn="ctr">
                <a:solidFill>
                  <a:srgbClr val="B791FF">
                    <a:shade val="95000"/>
                    <a:satMod val="105000"/>
                  </a:srgbClr>
                </a:solidFill>
                <a:prstDash val="solid"/>
              </a:ln>
              <a:effectLst/>
            </p:spPr>
          </p:cxn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185B5D07-F2D5-C1D5-433F-3DA2F637E00F}"/>
                  </a:ext>
                </a:extLst>
              </p:cNvPr>
              <p:cNvSpPr/>
              <p:nvPr/>
            </p:nvSpPr>
            <p:spPr>
              <a:xfrm>
                <a:off x="7953658" y="686416"/>
                <a:ext cx="108000" cy="108000"/>
              </a:xfrm>
              <a:prstGeom prst="ellipse">
                <a:avLst/>
              </a:prstGeom>
              <a:solidFill>
                <a:srgbClr val="B791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EFEFE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21C587AF-A1BC-B004-26B7-8CB23DC7DC09}"/>
                </a:ext>
              </a:extLst>
            </p:cNvPr>
            <p:cNvGrpSpPr/>
            <p:nvPr userDrawn="1"/>
          </p:nvGrpSpPr>
          <p:grpSpPr>
            <a:xfrm rot="10800000">
              <a:off x="1" y="686416"/>
              <a:ext cx="4238342" cy="108000"/>
              <a:chOff x="7953658" y="686416"/>
              <a:chExt cx="4238342" cy="108000"/>
            </a:xfrm>
          </p:grpSpPr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984A2568-9695-87C0-A984-89B96F61DA7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007658" y="740416"/>
                <a:ext cx="4184342" cy="0"/>
              </a:xfrm>
              <a:prstGeom prst="line">
                <a:avLst/>
              </a:prstGeom>
              <a:noFill/>
              <a:ln w="19050" cap="flat" cmpd="sng" algn="ctr">
                <a:solidFill>
                  <a:srgbClr val="B791FF">
                    <a:shade val="95000"/>
                    <a:satMod val="105000"/>
                  </a:srgbClr>
                </a:solidFill>
                <a:prstDash val="solid"/>
              </a:ln>
              <a:effectLst/>
            </p:spPr>
          </p:cxn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7AC1FBD6-CFA9-A571-34F4-A9EEFF2D46AB}"/>
                  </a:ext>
                </a:extLst>
              </p:cNvPr>
              <p:cNvSpPr/>
              <p:nvPr/>
            </p:nvSpPr>
            <p:spPr>
              <a:xfrm>
                <a:off x="7953658" y="686416"/>
                <a:ext cx="108000" cy="108000"/>
              </a:xfrm>
              <a:prstGeom prst="ellipse">
                <a:avLst/>
              </a:prstGeom>
              <a:solidFill>
                <a:srgbClr val="B791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EFEFE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D8204F06-1655-AE12-5515-A0326C83083D}"/>
              </a:ext>
            </a:extLst>
          </p:cNvPr>
          <p:cNvSpPr txBox="1"/>
          <p:nvPr/>
        </p:nvSpPr>
        <p:spPr>
          <a:xfrm>
            <a:off x="413074" y="1063582"/>
            <a:ext cx="4935440" cy="398570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lnSpc>
                <a:spcPct val="200000"/>
              </a:lnSpc>
            </a:pPr>
            <a:r>
              <a:rPr lang="fa-IR" sz="2000" dirty="0">
                <a:latin typeface="IRANSans(FaNum) Medium" panose="02040503050201020203" pitchFamily="18" charset="-78"/>
                <a:cs typeface="IRANSans(FaNum) Medium" panose="02040503050201020203" pitchFamily="18" charset="-78"/>
              </a:rPr>
              <a:t>کاربردهای عملی </a:t>
            </a:r>
            <a:r>
              <a:rPr lang="en-US" sz="2000" dirty="0">
                <a:latin typeface="IRANSans(FaNum) Medium" panose="02040503050201020203" pitchFamily="18" charset="-78"/>
                <a:cs typeface="IRANSans(FaNum) Medium" panose="02040503050201020203" pitchFamily="18" charset="-78"/>
              </a:rPr>
              <a:t>OpenCV</a:t>
            </a:r>
            <a:r>
              <a:rPr lang="fa-IR" sz="2000" dirty="0">
                <a:latin typeface="IRANSans(FaNum) Medium" panose="02040503050201020203" pitchFamily="18" charset="-78"/>
                <a:cs typeface="IRANSans(FaNum) Medium" panose="02040503050201020203" pitchFamily="18" charset="-78"/>
              </a:rPr>
              <a:t> شامل:</a:t>
            </a:r>
          </a:p>
          <a:p>
            <a:pPr marL="171450" indent="-171450" algn="r" rtl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a-IR" sz="1200" dirty="0">
                <a:latin typeface="IRANSans(FaNum) Medium" panose="02040503050201020203" pitchFamily="18" charset="-78"/>
                <a:cs typeface="IRANSans(FaNum) Medium" panose="02040503050201020203" pitchFamily="18" charset="-78"/>
              </a:rPr>
              <a:t>اتصال تصاویر خیابانی (</a:t>
            </a:r>
            <a:r>
              <a:rPr lang="en-US" sz="1200" dirty="0">
                <a:latin typeface="IRANSans(FaNum) Medium" panose="02040503050201020203" pitchFamily="18" charset="-78"/>
                <a:cs typeface="IRANSans(FaNum) Medium" panose="02040503050201020203" pitchFamily="18" charset="-78"/>
              </a:rPr>
              <a:t>Street view</a:t>
            </a:r>
            <a:r>
              <a:rPr lang="fa-IR" sz="1200" dirty="0">
                <a:latin typeface="IRANSans(FaNum) Medium" panose="02040503050201020203" pitchFamily="18" charset="-78"/>
                <a:cs typeface="IRANSans(FaNum) Medium" panose="02040503050201020203" pitchFamily="18" charset="-78"/>
              </a:rPr>
              <a:t>)</a:t>
            </a:r>
          </a:p>
          <a:p>
            <a:pPr marL="171450" indent="-171450" algn="r" rtl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a-IR" sz="1200" dirty="0">
                <a:latin typeface="IRANSans(FaNum) Medium" panose="02040503050201020203" pitchFamily="18" charset="-78"/>
                <a:cs typeface="IRANSans(FaNum) Medium" panose="02040503050201020203" pitchFamily="18" charset="-78"/>
              </a:rPr>
              <a:t>تشخیص نفوذ در سیستم‌های نظارتی</a:t>
            </a:r>
          </a:p>
          <a:p>
            <a:pPr marL="171450" indent="-171450" algn="r" rtl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a-IR" sz="1200" dirty="0">
                <a:latin typeface="IRANSans(FaNum) Medium" panose="02040503050201020203" pitchFamily="18" charset="-78"/>
                <a:cs typeface="IRANSans(FaNum) Medium" panose="02040503050201020203" pitchFamily="18" charset="-78"/>
              </a:rPr>
              <a:t>مانیتورینگ تجهیزات معدن</a:t>
            </a:r>
          </a:p>
          <a:p>
            <a:pPr marL="171450" indent="-171450" algn="r" rtl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a-IR" sz="1200" dirty="0">
                <a:latin typeface="IRANSans(FaNum) Medium" panose="02040503050201020203" pitchFamily="18" charset="-78"/>
                <a:cs typeface="IRANSans(FaNum) Medium" panose="02040503050201020203" pitchFamily="18" charset="-78"/>
              </a:rPr>
              <a:t>کمک به ربات‌ها برای حرکت و برداشتن اشیا</a:t>
            </a:r>
          </a:p>
          <a:p>
            <a:pPr marL="171450" indent="-171450" algn="r" rtl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a-IR" sz="1200" dirty="0">
                <a:latin typeface="IRANSans(FaNum) Medium" panose="02040503050201020203" pitchFamily="18" charset="-78"/>
                <a:cs typeface="IRANSans(FaNum) Medium" panose="02040503050201020203" pitchFamily="18" charset="-78"/>
              </a:rPr>
              <a:t>تشخیص غرق‌شدگی در استخرها</a:t>
            </a:r>
          </a:p>
          <a:p>
            <a:pPr marL="171450" indent="-171450" algn="r" rtl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a-IR" sz="1200" dirty="0">
                <a:latin typeface="IRANSans(FaNum) Medium" panose="02040503050201020203" pitchFamily="18" charset="-78"/>
                <a:cs typeface="IRANSans(FaNum) Medium" panose="02040503050201020203" pitchFamily="18" charset="-78"/>
              </a:rPr>
              <a:t>اجرای هنرهای تعاملی</a:t>
            </a:r>
          </a:p>
          <a:p>
            <a:pPr marL="171450" indent="-171450" algn="r" rtl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a-IR" sz="1200" dirty="0">
                <a:latin typeface="IRANSans(FaNum) Medium" panose="02040503050201020203" pitchFamily="18" charset="-78"/>
                <a:cs typeface="IRANSans(FaNum) Medium" panose="02040503050201020203" pitchFamily="18" charset="-78"/>
              </a:rPr>
              <a:t>بررسی باند فرودگاه برای وجود اشیای خطرناک</a:t>
            </a:r>
          </a:p>
          <a:p>
            <a:pPr marL="171450" indent="-171450" algn="r" rtl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a-IR" sz="1200" dirty="0">
                <a:latin typeface="IRANSans(FaNum) Medium" panose="02040503050201020203" pitchFamily="18" charset="-78"/>
                <a:cs typeface="IRANSans(FaNum) Medium" panose="02040503050201020203" pitchFamily="18" charset="-78"/>
              </a:rPr>
              <a:t>کنترل کیفیت لیبل محصولات در کارخانه‌ها</a:t>
            </a:r>
          </a:p>
          <a:p>
            <a:pPr marL="171450" indent="-171450" algn="r" rtl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a-IR" sz="1200" dirty="0">
                <a:latin typeface="IRANSans(FaNum) Medium" panose="02040503050201020203" pitchFamily="18" charset="-78"/>
                <a:cs typeface="IRANSans(FaNum) Medium" panose="02040503050201020203" pitchFamily="18" charset="-78"/>
              </a:rPr>
              <a:t>تشخیص سریع چهره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80C06E-A17C-E0BE-B111-A6D2983FECF2}"/>
              </a:ext>
            </a:extLst>
          </p:cNvPr>
          <p:cNvSpPr txBox="1"/>
          <p:nvPr/>
        </p:nvSpPr>
        <p:spPr>
          <a:xfrm>
            <a:off x="6843486" y="1215982"/>
            <a:ext cx="4935440" cy="509370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lnSpc>
                <a:spcPct val="200000"/>
              </a:lnSpc>
            </a:pPr>
            <a:r>
              <a:rPr lang="fa-IR" sz="2000" dirty="0">
                <a:latin typeface="IRANSans(FaNum) Medium" panose="02040503050201020203" pitchFamily="18" charset="-78"/>
                <a:cs typeface="IRANSans(FaNum) Medium" panose="02040503050201020203" pitchFamily="18" charset="-78"/>
              </a:rPr>
              <a:t>شامل ۲۵۰۰ الگوریتم مناسب برای:</a:t>
            </a:r>
          </a:p>
          <a:p>
            <a:pPr marL="171450" indent="-171450" algn="r" rtl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a-IR" sz="1200" dirty="0">
                <a:latin typeface="IRANSans(FaNum) Medium" panose="02040503050201020203" pitchFamily="18" charset="-78"/>
                <a:cs typeface="IRANSans(FaNum) Medium" panose="02040503050201020203" pitchFamily="18" charset="-78"/>
              </a:rPr>
              <a:t>تشخیص و شناسایی چهره</a:t>
            </a:r>
          </a:p>
          <a:p>
            <a:pPr marL="171450" indent="-171450" algn="r" rtl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a-IR" sz="1200" dirty="0">
                <a:latin typeface="IRANSans(FaNum) Medium" panose="02040503050201020203" pitchFamily="18" charset="-78"/>
                <a:cs typeface="IRANSans(FaNum) Medium" panose="02040503050201020203" pitchFamily="18" charset="-78"/>
              </a:rPr>
              <a:t>شناسایی اشیا</a:t>
            </a:r>
          </a:p>
          <a:p>
            <a:pPr marL="171450" indent="-171450" algn="r" rtl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a-IR" sz="1200" dirty="0">
                <a:latin typeface="IRANSans(FaNum) Medium" panose="02040503050201020203" pitchFamily="18" charset="-78"/>
                <a:cs typeface="IRANSans(FaNum) Medium" panose="02040503050201020203" pitchFamily="18" charset="-78"/>
              </a:rPr>
              <a:t>دسته‌بندی حرکات انسان در ویدیو</a:t>
            </a:r>
          </a:p>
          <a:p>
            <a:pPr marL="171450" indent="-171450" algn="r" rtl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a-IR" sz="1200" dirty="0">
                <a:latin typeface="IRANSans(FaNum) Medium" panose="02040503050201020203" pitchFamily="18" charset="-78"/>
                <a:cs typeface="IRANSans(FaNum) Medium" panose="02040503050201020203" pitchFamily="18" charset="-78"/>
              </a:rPr>
              <a:t>دنبال‌کردن حرکت دوربین</a:t>
            </a:r>
          </a:p>
          <a:p>
            <a:pPr marL="171450" indent="-171450" algn="r" rtl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a-IR" sz="1200" dirty="0">
                <a:latin typeface="IRANSans(FaNum) Medium" panose="02040503050201020203" pitchFamily="18" charset="-78"/>
                <a:cs typeface="IRANSans(FaNum) Medium" panose="02040503050201020203" pitchFamily="18" charset="-78"/>
              </a:rPr>
              <a:t>ردیابی اشیای متحرک</a:t>
            </a:r>
          </a:p>
          <a:p>
            <a:pPr marL="171450" indent="-171450" algn="r" rtl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a-IR" sz="1200" dirty="0">
                <a:latin typeface="IRANSans(FaNum) Medium" panose="02040503050201020203" pitchFamily="18" charset="-78"/>
                <a:cs typeface="IRANSans(FaNum) Medium" panose="02040503050201020203" pitchFamily="18" charset="-78"/>
              </a:rPr>
              <a:t>استخراج مدل‌های سه‌بعدی از اشیا</a:t>
            </a:r>
          </a:p>
          <a:p>
            <a:pPr marL="171450" indent="-171450" algn="r" rtl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a-IR" sz="1200" dirty="0">
                <a:latin typeface="IRANSans(FaNum) Medium" panose="02040503050201020203" pitchFamily="18" charset="-78"/>
                <a:cs typeface="IRANSans(FaNum) Medium" panose="02040503050201020203" pitchFamily="18" charset="-78"/>
              </a:rPr>
              <a:t>تولید ابر نقاط سه‌بعدی از دوربین‌های استریو</a:t>
            </a:r>
          </a:p>
          <a:p>
            <a:pPr marL="171450" indent="-171450" algn="r" rtl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a-IR" sz="1200" dirty="0">
                <a:latin typeface="IRANSans(FaNum) Medium" panose="02040503050201020203" pitchFamily="18" charset="-78"/>
                <a:cs typeface="IRANSans(FaNum) Medium" panose="02040503050201020203" pitchFamily="18" charset="-78"/>
              </a:rPr>
              <a:t>اتصال تصاویر برای ساخت یک تصویر با وضوح بالا از یک صحنه کامل</a:t>
            </a:r>
          </a:p>
          <a:p>
            <a:pPr marL="171450" indent="-171450" algn="r" rtl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a-IR" sz="1200" dirty="0">
                <a:latin typeface="IRANSans(FaNum) Medium" panose="02040503050201020203" pitchFamily="18" charset="-78"/>
                <a:cs typeface="IRANSans(FaNum) Medium" panose="02040503050201020203" pitchFamily="18" charset="-78"/>
              </a:rPr>
              <a:t>یافتن تصاویر مشابه در پایگاه داده</a:t>
            </a:r>
          </a:p>
          <a:p>
            <a:pPr marL="171450" indent="-171450" algn="r" rtl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a-IR" sz="1200" dirty="0">
                <a:latin typeface="IRANSans(FaNum) Medium" panose="02040503050201020203" pitchFamily="18" charset="-78"/>
                <a:cs typeface="IRANSans(FaNum) Medium" panose="02040503050201020203" pitchFamily="18" charset="-78"/>
              </a:rPr>
              <a:t>حذف قرمزی چشم در تصاویر فلش‌دار</a:t>
            </a:r>
          </a:p>
          <a:p>
            <a:pPr marL="171450" indent="-171450" algn="r" rtl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a-IR" sz="1200" dirty="0">
                <a:latin typeface="IRANSans(FaNum) Medium" panose="02040503050201020203" pitchFamily="18" charset="-78"/>
                <a:cs typeface="IRANSans(FaNum) Medium" panose="02040503050201020203" pitchFamily="18" charset="-78"/>
              </a:rPr>
              <a:t>دنبال‌کردن حرکت چشم</a:t>
            </a:r>
          </a:p>
          <a:p>
            <a:pPr marL="171450" indent="-171450" algn="r" rtl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a-IR" sz="1200" dirty="0">
                <a:latin typeface="IRANSans(FaNum) Medium" panose="02040503050201020203" pitchFamily="18" charset="-78"/>
                <a:cs typeface="IRANSans(FaNum) Medium" panose="02040503050201020203" pitchFamily="18" charset="-78"/>
              </a:rPr>
              <a:t>تشخیص صحنه و ایجاد مارکر برای واقعیت افزوده (</a:t>
            </a:r>
            <a:r>
              <a:rPr lang="en-US" sz="1200" dirty="0">
                <a:latin typeface="IRANSans(FaNum) Medium" panose="02040503050201020203" pitchFamily="18" charset="-78"/>
                <a:cs typeface="IRANSans(FaNum) Medium" panose="02040503050201020203" pitchFamily="18" charset="-78"/>
              </a:rPr>
              <a:t>AR</a:t>
            </a:r>
            <a:r>
              <a:rPr lang="fa-IR" sz="1200" dirty="0">
                <a:latin typeface="IRANSans(FaNum) Medium" panose="02040503050201020203" pitchFamily="18" charset="-78"/>
                <a:cs typeface="IRANSans(FaNum) Medium" panose="02040503050201020203" pitchFamily="18" charset="-78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231607764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6">
          <a:extLst>
            <a:ext uri="{FF2B5EF4-FFF2-40B4-BE49-F238E27FC236}">
              <a16:creationId xmlns:a16="http://schemas.microsoft.com/office/drawing/2014/main" id="{AC85191D-C8B9-04FB-91BD-A6DDBB347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6A494DF-8B95-8D7D-71DE-30A25CFF9149}"/>
              </a:ext>
            </a:extLst>
          </p:cNvPr>
          <p:cNvSpPr txBox="1"/>
          <p:nvPr/>
        </p:nvSpPr>
        <p:spPr>
          <a:xfrm>
            <a:off x="5093166" y="417251"/>
            <a:ext cx="20056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rtl="1"/>
            <a:r>
              <a:rPr lang="en-US" sz="3600" b="1" dirty="0">
                <a:cs typeface="B Bardiya" panose="00000400000000000000" pitchFamily="2" charset="-78"/>
              </a:rPr>
              <a:t>OpenCV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6D2B958-6BFE-4A5D-5AE8-AB65B6C052A7}"/>
              </a:ext>
            </a:extLst>
          </p:cNvPr>
          <p:cNvGrpSpPr/>
          <p:nvPr/>
        </p:nvGrpSpPr>
        <p:grpSpPr>
          <a:xfrm>
            <a:off x="1" y="686416"/>
            <a:ext cx="12191999" cy="108000"/>
            <a:chOff x="1" y="686416"/>
            <a:chExt cx="12191999" cy="108000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B0D5E66-A1F1-76BF-F4B6-95A17A6386F1}"/>
                </a:ext>
              </a:extLst>
            </p:cNvPr>
            <p:cNvGrpSpPr/>
            <p:nvPr userDrawn="1"/>
          </p:nvGrpSpPr>
          <p:grpSpPr>
            <a:xfrm>
              <a:off x="7953658" y="686416"/>
              <a:ext cx="4238342" cy="108000"/>
              <a:chOff x="7953658" y="686416"/>
              <a:chExt cx="4238342" cy="108000"/>
            </a:xfrm>
          </p:grpSpPr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2A0CD4E9-41D8-EC1C-6869-4B7E9547F74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007658" y="740416"/>
                <a:ext cx="4184342" cy="0"/>
              </a:xfrm>
              <a:prstGeom prst="line">
                <a:avLst/>
              </a:prstGeom>
              <a:noFill/>
              <a:ln w="19050" cap="flat" cmpd="sng" algn="ctr">
                <a:solidFill>
                  <a:srgbClr val="B791FF">
                    <a:shade val="95000"/>
                    <a:satMod val="105000"/>
                  </a:srgbClr>
                </a:solidFill>
                <a:prstDash val="solid"/>
              </a:ln>
              <a:effectLst/>
            </p:spPr>
          </p:cxn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ACEC04EB-B692-ECBC-7EE8-8DE7AD819C26}"/>
                  </a:ext>
                </a:extLst>
              </p:cNvPr>
              <p:cNvSpPr/>
              <p:nvPr/>
            </p:nvSpPr>
            <p:spPr>
              <a:xfrm>
                <a:off x="7953658" y="686416"/>
                <a:ext cx="108000" cy="108000"/>
              </a:xfrm>
              <a:prstGeom prst="ellipse">
                <a:avLst/>
              </a:prstGeom>
              <a:solidFill>
                <a:srgbClr val="B791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EFEFE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AACB48EE-597D-388B-0B94-94E725C7B6B1}"/>
                </a:ext>
              </a:extLst>
            </p:cNvPr>
            <p:cNvGrpSpPr/>
            <p:nvPr userDrawn="1"/>
          </p:nvGrpSpPr>
          <p:grpSpPr>
            <a:xfrm rot="10800000">
              <a:off x="1" y="686416"/>
              <a:ext cx="4238342" cy="108000"/>
              <a:chOff x="7953658" y="686416"/>
              <a:chExt cx="4238342" cy="108000"/>
            </a:xfrm>
          </p:grpSpPr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B48BC18B-1A71-B22F-5608-ABB4009E316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007658" y="740416"/>
                <a:ext cx="4184342" cy="0"/>
              </a:xfrm>
              <a:prstGeom prst="line">
                <a:avLst/>
              </a:prstGeom>
              <a:noFill/>
              <a:ln w="19050" cap="flat" cmpd="sng" algn="ctr">
                <a:solidFill>
                  <a:srgbClr val="B791FF">
                    <a:shade val="95000"/>
                    <a:satMod val="105000"/>
                  </a:srgbClr>
                </a:solidFill>
                <a:prstDash val="solid"/>
              </a:ln>
              <a:effectLst/>
            </p:spPr>
          </p:cxn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4B41FA77-13CD-BC80-C82D-D9FC7A866855}"/>
                  </a:ext>
                </a:extLst>
              </p:cNvPr>
              <p:cNvSpPr/>
              <p:nvPr/>
            </p:nvSpPr>
            <p:spPr>
              <a:xfrm>
                <a:off x="7953658" y="686416"/>
                <a:ext cx="108000" cy="108000"/>
              </a:xfrm>
              <a:prstGeom prst="ellipse">
                <a:avLst/>
              </a:prstGeom>
              <a:solidFill>
                <a:srgbClr val="B791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EFEFE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AD5A5148-B4B0-EFA2-E208-3FCDD6B8E39B}"/>
              </a:ext>
            </a:extLst>
          </p:cNvPr>
          <p:cNvSpPr txBox="1"/>
          <p:nvPr/>
        </p:nvSpPr>
        <p:spPr>
          <a:xfrm>
            <a:off x="667657" y="1449306"/>
            <a:ext cx="10856686" cy="2065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1">
              <a:lnSpc>
                <a:spcPct val="250000"/>
              </a:lnSpc>
              <a:spcAft>
                <a:spcPts val="800"/>
              </a:spcAft>
              <a:buNone/>
            </a:pPr>
            <a:r>
              <a:rPr lang="fa-IR" sz="1800" kern="100" dirty="0">
                <a:effectLst/>
                <a:latin typeface="IRANSans(FaNum) Medium" panose="02040503050201020203" pitchFamily="18" charset="-78"/>
                <a:ea typeface="Aptos" panose="020B0004020202020204" pitchFamily="34" charset="0"/>
                <a:cs typeface="IRANSans(FaNum) Medium" panose="02040503050201020203" pitchFamily="18" charset="-78"/>
              </a:rPr>
              <a:t>این کتابخانه از زبان‌های </a:t>
            </a:r>
            <a:r>
              <a:rPr lang="en-US" sz="1800" kern="100" dirty="0">
                <a:effectLst/>
                <a:latin typeface="IRANSans(FaNum) Medium" panose="02040503050201020203" pitchFamily="18" charset="-78"/>
                <a:ea typeface="Aptos" panose="020B0004020202020204" pitchFamily="34" charset="0"/>
                <a:cs typeface="IRANSans(FaNum) Medium" panose="02040503050201020203" pitchFamily="18" charset="-78"/>
              </a:rPr>
              <a:t>C++</a:t>
            </a:r>
            <a:r>
              <a:rPr lang="fa-IR" sz="1800" kern="100" dirty="0">
                <a:effectLst/>
                <a:latin typeface="IRANSans(FaNum) Medium" panose="02040503050201020203" pitchFamily="18" charset="-78"/>
                <a:ea typeface="Aptos" panose="020B0004020202020204" pitchFamily="34" charset="0"/>
                <a:cs typeface="IRANSans(FaNum) Medium" panose="02040503050201020203" pitchFamily="18" charset="-78"/>
              </a:rPr>
              <a:t>، </a:t>
            </a:r>
            <a:r>
              <a:rPr lang="en-US" sz="1800" kern="100" dirty="0">
                <a:effectLst/>
                <a:latin typeface="IRANSans(FaNum) Medium" panose="02040503050201020203" pitchFamily="18" charset="-78"/>
                <a:ea typeface="Aptos" panose="020B0004020202020204" pitchFamily="34" charset="0"/>
                <a:cs typeface="IRANSans(FaNum) Medium" panose="02040503050201020203" pitchFamily="18" charset="-78"/>
              </a:rPr>
              <a:t>Python</a:t>
            </a:r>
            <a:r>
              <a:rPr lang="fa-IR" sz="1800" kern="100" dirty="0">
                <a:effectLst/>
                <a:latin typeface="IRANSans(FaNum) Medium" panose="02040503050201020203" pitchFamily="18" charset="-78"/>
                <a:ea typeface="Aptos" panose="020B0004020202020204" pitchFamily="34" charset="0"/>
                <a:cs typeface="IRANSans(FaNum) Medium" panose="02040503050201020203" pitchFamily="18" charset="-78"/>
              </a:rPr>
              <a:t>، </a:t>
            </a:r>
            <a:r>
              <a:rPr lang="en-US" sz="1800" kern="100" dirty="0">
                <a:effectLst/>
                <a:latin typeface="IRANSans(FaNum) Medium" panose="02040503050201020203" pitchFamily="18" charset="-78"/>
                <a:ea typeface="Aptos" panose="020B0004020202020204" pitchFamily="34" charset="0"/>
                <a:cs typeface="IRANSans(FaNum) Medium" panose="02040503050201020203" pitchFamily="18" charset="-78"/>
              </a:rPr>
              <a:t>Java</a:t>
            </a:r>
            <a:r>
              <a:rPr lang="fa-IR" sz="1800" kern="100" dirty="0">
                <a:effectLst/>
                <a:latin typeface="IRANSans(FaNum) Medium" panose="02040503050201020203" pitchFamily="18" charset="-78"/>
                <a:ea typeface="Aptos" panose="020B0004020202020204" pitchFamily="34" charset="0"/>
                <a:cs typeface="IRANSans(FaNum) Medium" panose="02040503050201020203" pitchFamily="18" charset="-78"/>
              </a:rPr>
              <a:t> و </a:t>
            </a:r>
            <a:r>
              <a:rPr lang="en-US" sz="1800" kern="100" dirty="0">
                <a:effectLst/>
                <a:latin typeface="IRANSans(FaNum) Medium" panose="02040503050201020203" pitchFamily="18" charset="-78"/>
                <a:ea typeface="Aptos" panose="020B0004020202020204" pitchFamily="34" charset="0"/>
                <a:cs typeface="IRANSans(FaNum) Medium" panose="02040503050201020203" pitchFamily="18" charset="-78"/>
              </a:rPr>
              <a:t>MATLAB</a:t>
            </a:r>
            <a:r>
              <a:rPr lang="fa-IR" sz="1800" kern="100" dirty="0">
                <a:effectLst/>
                <a:latin typeface="IRANSans(FaNum) Medium" panose="02040503050201020203" pitchFamily="18" charset="-78"/>
                <a:ea typeface="Aptos" panose="020B0004020202020204" pitchFamily="34" charset="0"/>
                <a:cs typeface="IRANSans(FaNum) Medium" panose="02040503050201020203" pitchFamily="18" charset="-78"/>
              </a:rPr>
              <a:t> پشتیبانی می‌کند و روی سیستم‌عامل‌های </a:t>
            </a:r>
            <a:r>
              <a:rPr lang="en-US" sz="1800" kern="100" dirty="0">
                <a:effectLst/>
                <a:latin typeface="IRANSans(FaNum) Medium" panose="02040503050201020203" pitchFamily="18" charset="-78"/>
                <a:ea typeface="Aptos" panose="020B0004020202020204" pitchFamily="34" charset="0"/>
                <a:cs typeface="IRANSans(FaNum) Medium" panose="02040503050201020203" pitchFamily="18" charset="-78"/>
              </a:rPr>
              <a:t>Windows</a:t>
            </a:r>
            <a:r>
              <a:rPr lang="fa-IR" sz="1800" kern="100" dirty="0">
                <a:effectLst/>
                <a:latin typeface="IRANSans(FaNum) Medium" panose="02040503050201020203" pitchFamily="18" charset="-78"/>
                <a:ea typeface="Aptos" panose="020B0004020202020204" pitchFamily="34" charset="0"/>
                <a:cs typeface="IRANSans(FaNum) Medium" panose="02040503050201020203" pitchFamily="18" charset="-78"/>
              </a:rPr>
              <a:t>، </a:t>
            </a:r>
            <a:r>
              <a:rPr lang="en-US" sz="1800" kern="100" dirty="0">
                <a:effectLst/>
                <a:latin typeface="IRANSans(FaNum) Medium" panose="02040503050201020203" pitchFamily="18" charset="-78"/>
                <a:ea typeface="Aptos" panose="020B0004020202020204" pitchFamily="34" charset="0"/>
                <a:cs typeface="IRANSans(FaNum) Medium" panose="02040503050201020203" pitchFamily="18" charset="-78"/>
              </a:rPr>
              <a:t>Linux</a:t>
            </a:r>
            <a:r>
              <a:rPr lang="fa-IR" sz="1800" kern="100" dirty="0">
                <a:effectLst/>
                <a:latin typeface="IRANSans(FaNum) Medium" panose="02040503050201020203" pitchFamily="18" charset="-78"/>
                <a:ea typeface="Aptos" panose="020B0004020202020204" pitchFamily="34" charset="0"/>
                <a:cs typeface="IRANSans(FaNum) Medium" panose="02040503050201020203" pitchFamily="18" charset="-78"/>
              </a:rPr>
              <a:t>، </a:t>
            </a:r>
            <a:r>
              <a:rPr lang="en-US" sz="1800" kern="100" dirty="0">
                <a:effectLst/>
                <a:latin typeface="IRANSans(FaNum) Medium" panose="02040503050201020203" pitchFamily="18" charset="-78"/>
                <a:ea typeface="Aptos" panose="020B0004020202020204" pitchFamily="34" charset="0"/>
                <a:cs typeface="IRANSans(FaNum) Medium" panose="02040503050201020203" pitchFamily="18" charset="-78"/>
              </a:rPr>
              <a:t>Android</a:t>
            </a:r>
            <a:r>
              <a:rPr lang="fa-IR" sz="1800" kern="100" dirty="0">
                <a:effectLst/>
                <a:latin typeface="IRANSans(FaNum) Medium" panose="02040503050201020203" pitchFamily="18" charset="-78"/>
                <a:ea typeface="Aptos" panose="020B0004020202020204" pitchFamily="34" charset="0"/>
                <a:cs typeface="IRANSans(FaNum) Medium" panose="02040503050201020203" pitchFamily="18" charset="-78"/>
              </a:rPr>
              <a:t> و </a:t>
            </a:r>
            <a:r>
              <a:rPr lang="en-US" sz="1800" kern="100" dirty="0">
                <a:effectLst/>
                <a:latin typeface="IRANSans(FaNum) Medium" panose="02040503050201020203" pitchFamily="18" charset="-78"/>
                <a:ea typeface="Aptos" panose="020B0004020202020204" pitchFamily="34" charset="0"/>
                <a:cs typeface="IRANSans(FaNum) Medium" panose="02040503050201020203" pitchFamily="18" charset="-78"/>
              </a:rPr>
              <a:t>macOS</a:t>
            </a:r>
            <a:r>
              <a:rPr lang="fa-IR" sz="1800" kern="100" dirty="0">
                <a:effectLst/>
                <a:latin typeface="IRANSans(FaNum) Medium" panose="02040503050201020203" pitchFamily="18" charset="-78"/>
                <a:ea typeface="Aptos" panose="020B0004020202020204" pitchFamily="34" charset="0"/>
                <a:cs typeface="IRANSans(FaNum) Medium" panose="02040503050201020203" pitchFamily="18" charset="-78"/>
              </a:rPr>
              <a:t> قابل اجرا است. </a:t>
            </a:r>
            <a:r>
              <a:rPr lang="en-US" sz="1800" kern="100" dirty="0">
                <a:effectLst/>
                <a:latin typeface="IRANSans(FaNum) Medium" panose="02040503050201020203" pitchFamily="18" charset="-78"/>
                <a:ea typeface="Aptos" panose="020B0004020202020204" pitchFamily="34" charset="0"/>
                <a:cs typeface="IRANSans(FaNum) Medium" panose="02040503050201020203" pitchFamily="18" charset="-78"/>
              </a:rPr>
              <a:t>OpenCV</a:t>
            </a:r>
            <a:r>
              <a:rPr lang="fa-IR" sz="1800" kern="100" dirty="0">
                <a:effectLst/>
                <a:latin typeface="IRANSans(FaNum) Medium" panose="02040503050201020203" pitchFamily="18" charset="-78"/>
                <a:ea typeface="Aptos" panose="020B0004020202020204" pitchFamily="34" charset="0"/>
                <a:cs typeface="IRANSans(FaNum) Medium" panose="02040503050201020203" pitchFamily="18" charset="-78"/>
              </a:rPr>
              <a:t> بیشتر بر کاربردهای بینایی ماشین بلادرنگ (</a:t>
            </a:r>
            <a:r>
              <a:rPr lang="en-US" sz="1800" kern="100" dirty="0">
                <a:effectLst/>
                <a:latin typeface="IRANSans(FaNum) Medium" panose="02040503050201020203" pitchFamily="18" charset="-78"/>
                <a:ea typeface="Aptos" panose="020B0004020202020204" pitchFamily="34" charset="0"/>
                <a:cs typeface="IRANSans(FaNum) Medium" panose="02040503050201020203" pitchFamily="18" charset="-78"/>
              </a:rPr>
              <a:t>Real-time</a:t>
            </a:r>
            <a:r>
              <a:rPr lang="fa-IR" sz="1800" kern="100" dirty="0">
                <a:effectLst/>
                <a:latin typeface="IRANSans(FaNum) Medium" panose="02040503050201020203" pitchFamily="18" charset="-78"/>
                <a:ea typeface="Aptos" panose="020B0004020202020204" pitchFamily="34" charset="0"/>
                <a:cs typeface="IRANSans(FaNum) Medium" panose="02040503050201020203" pitchFamily="18" charset="-78"/>
              </a:rPr>
              <a:t>) تمرکز دارد. همچنین، پشتیبانی کامل از </a:t>
            </a:r>
            <a:r>
              <a:rPr lang="en-US" sz="1800" kern="100" dirty="0">
                <a:effectLst/>
                <a:latin typeface="IRANSans(FaNum) Medium" panose="02040503050201020203" pitchFamily="18" charset="-78"/>
                <a:ea typeface="Aptos" panose="020B0004020202020204" pitchFamily="34" charset="0"/>
                <a:cs typeface="IRANSans(FaNum) Medium" panose="02040503050201020203" pitchFamily="18" charset="-78"/>
              </a:rPr>
              <a:t>CUDA</a:t>
            </a:r>
            <a:r>
              <a:rPr lang="fa-IR" sz="1800" kern="100" dirty="0">
                <a:effectLst/>
                <a:latin typeface="IRANSans(FaNum) Medium" panose="02040503050201020203" pitchFamily="18" charset="-78"/>
                <a:ea typeface="Aptos" panose="020B0004020202020204" pitchFamily="34" charset="0"/>
                <a:cs typeface="IRANSans(FaNum) Medium" panose="02040503050201020203" pitchFamily="18" charset="-78"/>
              </a:rPr>
              <a:t> و </a:t>
            </a:r>
            <a:r>
              <a:rPr lang="en-US" sz="1800" kern="100" dirty="0">
                <a:effectLst/>
                <a:latin typeface="IRANSans(FaNum) Medium" panose="02040503050201020203" pitchFamily="18" charset="-78"/>
                <a:ea typeface="Aptos" panose="020B0004020202020204" pitchFamily="34" charset="0"/>
                <a:cs typeface="IRANSans(FaNum) Medium" panose="02040503050201020203" pitchFamily="18" charset="-78"/>
              </a:rPr>
              <a:t>OpenCL</a:t>
            </a:r>
            <a:r>
              <a:rPr lang="fa-IR" sz="1800" kern="100" dirty="0">
                <a:effectLst/>
                <a:latin typeface="IRANSans(FaNum) Medium" panose="02040503050201020203" pitchFamily="18" charset="-78"/>
                <a:ea typeface="Aptos" panose="020B0004020202020204" pitchFamily="34" charset="0"/>
                <a:cs typeface="IRANSans(FaNum) Medium" panose="02040503050201020203" pitchFamily="18" charset="-78"/>
              </a:rPr>
              <a:t> به‌صورت فعال در حال توسعه است.</a:t>
            </a:r>
            <a:endParaRPr lang="en-US" sz="1800" kern="100" dirty="0">
              <a:effectLst/>
              <a:latin typeface="IRANSans(FaNum) Medium" panose="02040503050201020203" pitchFamily="18" charset="-78"/>
              <a:ea typeface="Aptos" panose="020B0004020202020204" pitchFamily="34" charset="0"/>
              <a:cs typeface="IRANSans(FaNum) Medium" panose="02040503050201020203" pitchFamily="18" charset="-78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CDA80A-BFDF-6AC3-90D5-4BE9D963F078}"/>
              </a:ext>
            </a:extLst>
          </p:cNvPr>
          <p:cNvSpPr txBox="1"/>
          <p:nvPr/>
        </p:nvSpPr>
        <p:spPr>
          <a:xfrm>
            <a:off x="667657" y="3811772"/>
            <a:ext cx="10856686" cy="680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1">
              <a:lnSpc>
                <a:spcPct val="250000"/>
              </a:lnSpc>
              <a:spcAft>
                <a:spcPts val="800"/>
              </a:spcAft>
              <a:buNone/>
            </a:pPr>
            <a:r>
              <a:rPr lang="fa-IR" kern="100" dirty="0">
                <a:latin typeface="IRANSans(FaNum) Medium" panose="02040503050201020203" pitchFamily="18" charset="-78"/>
                <a:ea typeface="Aptos" panose="020B0004020202020204" pitchFamily="34" charset="0"/>
                <a:cs typeface="IRANSans(FaNum) Medium" panose="02040503050201020203" pitchFamily="18" charset="-78"/>
              </a:rPr>
              <a:t>به‌دلیل استفاده از لایسنس </a:t>
            </a:r>
            <a:r>
              <a:rPr lang="en-US" kern="100" dirty="0">
                <a:latin typeface="IRANSans(FaNum) Medium" panose="02040503050201020203" pitchFamily="18" charset="-78"/>
                <a:ea typeface="Aptos" panose="020B0004020202020204" pitchFamily="34" charset="0"/>
                <a:cs typeface="IRANSans(FaNum) Medium" panose="02040503050201020203" pitchFamily="18" charset="-78"/>
              </a:rPr>
              <a:t>Apache 2، </a:t>
            </a:r>
            <a:r>
              <a:rPr lang="fa-IR" kern="100" dirty="0">
                <a:latin typeface="IRANSans(FaNum) Medium" panose="02040503050201020203" pitchFamily="18" charset="-78"/>
                <a:ea typeface="Aptos" panose="020B0004020202020204" pitchFamily="34" charset="0"/>
                <a:cs typeface="IRANSans(FaNum) Medium" panose="02040503050201020203" pitchFamily="18" charset="-78"/>
              </a:rPr>
              <a:t>کسب‌وکارها می‌توانند به‌راحتی از کد آن استفاده کرده و آن را تغییر دهند.</a:t>
            </a:r>
            <a:endParaRPr lang="en-US" sz="1800" kern="100" dirty="0">
              <a:effectLst/>
              <a:latin typeface="IRANSans(FaNum) Medium" panose="02040503050201020203" pitchFamily="18" charset="-78"/>
              <a:ea typeface="Aptos" panose="020B0004020202020204" pitchFamily="34" charset="0"/>
              <a:cs typeface="IRANSans(FaNum) Medium" panose="02040503050201020203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91703917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Process Diagrams by GAM98">
  <a:themeElements>
    <a:clrScheme name="gam98-2">
      <a:dk1>
        <a:sysClr val="windowText" lastClr="000000"/>
      </a:dk1>
      <a:lt1>
        <a:sysClr val="window" lastClr="FFFFFF"/>
      </a:lt1>
      <a:dk2>
        <a:srgbClr val="FFC28C"/>
      </a:dk2>
      <a:lt2>
        <a:srgbClr val="FF8609"/>
      </a:lt2>
      <a:accent1>
        <a:srgbClr val="B791FF"/>
      </a:accent1>
      <a:accent2>
        <a:srgbClr val="7205FF"/>
      </a:accent2>
      <a:accent3>
        <a:srgbClr val="FF6997"/>
      </a:accent3>
      <a:accent4>
        <a:srgbClr val="FD9AB4"/>
      </a:accent4>
      <a:accent5>
        <a:srgbClr val="71E2B9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1802</TotalTime>
  <Words>314</Words>
  <Application>Microsoft Office PowerPoint</Application>
  <PresentationFormat>Widescreen</PresentationFormat>
  <Paragraphs>40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2" baseType="lpstr">
      <vt:lpstr>Roboto</vt:lpstr>
      <vt:lpstr>IRANSans(FaNum) Medium</vt:lpstr>
      <vt:lpstr>Arial</vt:lpstr>
      <vt:lpstr>Config Rounded Medium</vt:lpstr>
      <vt:lpstr>Calibri</vt:lpstr>
      <vt:lpstr>Fira Sans Extra Condensed SemiBold</vt:lpstr>
      <vt:lpstr>B Bardiya</vt:lpstr>
      <vt:lpstr>Process Diagrams by GAM98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Mahdi Deime</dc:creator>
  <cp:lastModifiedBy>Ehsan Siahtiri</cp:lastModifiedBy>
  <cp:revision>90</cp:revision>
  <dcterms:created xsi:type="dcterms:W3CDTF">2022-11-07T11:26:32Z</dcterms:created>
  <dcterms:modified xsi:type="dcterms:W3CDTF">2026-04-06T15:53:10Z</dcterms:modified>
</cp:coreProperties>
</file>